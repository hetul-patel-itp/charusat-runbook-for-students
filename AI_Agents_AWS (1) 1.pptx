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64" r:id="rId5"/>
    <p:sldId id="263" r:id="rId6"/>
    <p:sldId id="258" r:id="rId7"/>
    <p:sldId id="259" r:id="rId8"/>
    <p:sldId id="260" r:id="rId9"/>
    <p:sldId id="261" r:id="rId10"/>
    <p:sldId id="262" r:id="rId11"/>
    <p:sldId id="265" r:id="rId12"/>
    <p:sldId id="29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56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435848-5B0A-5B40-B58D-1A907D68CC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29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4850CA-19A4-FFDC-D598-1B8806402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9696" y="-19278"/>
            <a:ext cx="9213574" cy="51826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8673108-9882-EE79-8FBE-FB666D676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708" y="3228108"/>
            <a:ext cx="4108292" cy="51743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CDC3699-F042-993B-B05E-3B256BCA15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3708" y="3901679"/>
            <a:ext cx="4108292" cy="590809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1E7A70-9AE9-3D95-37C5-18D35C7729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71229" y="188558"/>
            <a:ext cx="2322017" cy="86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20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9526AA-091D-80A2-5864-CC12B117AE83}"/>
              </a:ext>
            </a:extLst>
          </p:cNvPr>
          <p:cNvSpPr/>
          <p:nvPr userDrawn="1"/>
        </p:nvSpPr>
        <p:spPr>
          <a:xfrm>
            <a:off x="-85725" y="-66675"/>
            <a:ext cx="9321847" cy="52971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1AB22-5ED1-F886-C7D6-F205C1475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204" y="1685925"/>
            <a:ext cx="8198086" cy="37534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2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738B524-6E9B-9255-90F7-9DA85982DA7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82204" y="2152650"/>
            <a:ext cx="8198085" cy="14097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B4868E-08BB-E911-2838-65B64CEE4DF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72678" y="4242946"/>
            <a:ext cx="2108597" cy="59575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02D21C-7BF5-5AA0-65C4-5DB094ABDE0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30786" y="4254411"/>
            <a:ext cx="2282429" cy="679539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562E50C-E697-B835-1F6D-8ABD7BD13BF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998589" y="4242947"/>
            <a:ext cx="270272" cy="284418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544FAC8-CFD5-EF7E-2845-8616AE181B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397861" y="4254411"/>
            <a:ext cx="2282429" cy="679539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970C0FCD-F5BB-6EF3-29D4-6A0E955464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965664" y="4242947"/>
            <a:ext cx="270272" cy="284418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88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3E20BC-1C8E-AACF-FF8C-7DFDD1F2E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925" y="2853447"/>
            <a:ext cx="8932687" cy="1199744"/>
          </a:xfrm>
        </p:spPr>
        <p:txBody>
          <a:bodyPr>
            <a:normAutofit/>
          </a:bodyPr>
          <a:lstStyle/>
          <a:p>
            <a:r>
              <a:rPr lang="en-US" dirty="0"/>
              <a:t>Introduction to AI Agents &amp; How to Deploy AWS Bedrock Agents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A96DDD6-6075-2DC9-F037-5D3148288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0847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Introduction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8463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AI agent is an autonomous software entity that perceives its environment, makes decisions, and takes actions to achieve specific goals."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907792"/>
            <a:ext cx="2267712" cy="932688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29626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3697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adapts based on context &amp; inputs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2907792"/>
            <a:ext cx="2267712" cy="9326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34640" y="29626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323697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context, remembers past experiences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959352"/>
            <a:ext cx="2267712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401421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28853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thinking &amp; strategic planning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959352"/>
            <a:ext cx="2267712" cy="93268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834640" y="401421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428853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responses and closes the loop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1783080"/>
            <a:ext cx="356616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21808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21808" y="20848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 AI 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21808" y="2578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Perceives text, images, audio &amp; structured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907792"/>
            <a:ext cx="3566160" cy="1965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321808" y="29626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Core Loop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21808" y="3310128"/>
            <a:ext cx="3337560" cy="27432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21808" y="33101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Environment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03720" y="3584448"/>
            <a:ext cx="73152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321808" y="3657600"/>
            <a:ext cx="3337560" cy="27432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321808" y="3657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Reason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03720" y="3931920"/>
            <a:ext cx="73152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321808" y="4005072"/>
            <a:ext cx="3337560" cy="27432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21808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03720" y="4279392"/>
            <a:ext cx="73152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321808" y="4352544"/>
            <a:ext cx="3337560" cy="27432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21808" y="43525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Update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7240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Components &amp; Real-World Use Case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Employee vs AI Agent — and a Customer Support Example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1920240" cy="384048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1920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03704"/>
            <a:ext cx="1920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2037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1920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2651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Function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99816"/>
            <a:ext cx="1920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30998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1920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3547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95928"/>
            <a:ext cx="1920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443984"/>
            <a:ext cx="1920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4443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1261872"/>
            <a:ext cx="1920240" cy="384048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51460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14600" y="1755648"/>
            <a:ext cx="1920240" cy="38404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14600" y="1755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2203704"/>
            <a:ext cx="1920240" cy="38404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14600" y="22037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14600" y="2651760"/>
            <a:ext cx="1920240" cy="38404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14600" y="2651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14600" y="3099816"/>
            <a:ext cx="1920240" cy="38404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14600" y="30998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14600" y="3547872"/>
            <a:ext cx="1920240" cy="38404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514600" y="3547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14600" y="3995928"/>
            <a:ext cx="1920240" cy="38404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51460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14600" y="4443984"/>
            <a:ext cx="1920240" cy="38404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14600" y="4443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1261872"/>
            <a:ext cx="420624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72000" y="1261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Use Case: Customer Support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1737360"/>
            <a:ext cx="208483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17720" y="17373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Role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75120" y="1737360"/>
            <a:ext cx="208483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720840" y="17373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Role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2112264"/>
            <a:ext cx="20848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617720" y="21122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Engineer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75120" y="2112264"/>
            <a:ext cx="20848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720840" y="21122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Customer Support Engineer...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2487168"/>
            <a:ext cx="2084832" cy="34747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17720" y="24871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Customers Through...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2487168"/>
            <a:ext cx="2084832" cy="34747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720840" y="24871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Customers with Empathy...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2862072"/>
            <a:ext cx="20848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617720" y="28620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Tickets &amp; Maintain CSAT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862072"/>
            <a:ext cx="20848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720840" y="28620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Each Ticket using Tools...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3236976"/>
            <a:ext cx="2084832" cy="34747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617720" y="323697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of Action, Creativity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3236976"/>
            <a:ext cx="2084832" cy="34747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720840" y="323697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with Thinking Budget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0" y="3611880"/>
            <a:ext cx="20848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617720" y="36118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and Ticket Mgmt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675120" y="3611880"/>
            <a:ext cx="20848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720840" y="36118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Short-term, Long-term &amp; Episodic Memory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0" y="3986784"/>
            <a:ext cx="2084832" cy="34747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617720" y="398678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SOP, Docs, Runbooks &amp; KB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675120" y="3986784"/>
            <a:ext cx="2084832" cy="34747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720840" y="398678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and Functions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572000" y="4361688"/>
            <a:ext cx="20848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617720" y="436168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People Mgmt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675120" y="4361688"/>
            <a:ext cx="20848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720840" y="436168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&amp; Multi-agent Interaction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77240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Concepts of AI Agents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primitives every AI agent system is built upon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20802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2080260" cy="5486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01752" y="1389888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" y="1682496"/>
            <a:ext cx="1933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worker unit.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LlmAgent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a model for reasoning; workflow agents (Sequential, Parallel, Loop) control deterministic execution.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00300" y="1298448"/>
            <a:ext cx="20802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00300" y="1298448"/>
            <a:ext cx="208026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73452" y="1389888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73452" y="1682496"/>
            <a:ext cx="1933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agents abilities beyond conversation — calling external APIs, searching the web, running code, or invoking other services.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1298448"/>
            <a:ext cx="20802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1298448"/>
            <a:ext cx="20802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45152" y="1389888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&amp; State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45152" y="1682496"/>
            <a:ext cx="1933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context of a single conversation (Session), its history (Events) and the agent's working memory for that turn (State).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43700" y="1298448"/>
            <a:ext cx="20802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43700" y="1298448"/>
            <a:ext cx="20802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16852" y="1389888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6852" y="1682496"/>
            <a:ext cx="1933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agents to recall information about a user across multiple sessions, providing long-term context distinct from short-term State.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532888"/>
            <a:ext cx="20802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2532888"/>
            <a:ext cx="208026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01752" y="2624328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1752" y="2916936"/>
            <a:ext cx="1933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code snippets that run at specific points in the agent's process — for logging, checks, guardrails, or behavior modifications.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00300" y="2532888"/>
            <a:ext cx="20802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400300" y="2532888"/>
            <a:ext cx="20802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473452" y="2624328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73452" y="2916936"/>
            <a:ext cx="1933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agents to save, load, and manage files or binary data (images, PDFs) associated with a session or user across interactions.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2532888"/>
            <a:ext cx="20802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0" y="2532888"/>
            <a:ext cx="20802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45152" y="2624328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45152" y="2916936"/>
            <a:ext cx="1933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capability where agents break down complex goals into smaller steps — like a ReAct planner — to reason before acting.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43700" y="2532888"/>
            <a:ext cx="20802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743700" y="2532888"/>
            <a:ext cx="20802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16852" y="2624328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16852" y="2916936"/>
            <a:ext cx="1933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 of communication: user messages, agent replies, tool use. Events form the conversation history the agent reasons over.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3767328"/>
            <a:ext cx="28041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228600" y="3767328"/>
            <a:ext cx="2804160" cy="54864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01752" y="3858768"/>
            <a:ext cx="2657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1752" y="4151376"/>
            <a:ext cx="2657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engine that manages agent flow, orchestrates interactions based on Events, and coordinates with backend services.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24200" y="3767328"/>
            <a:ext cx="28041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124200" y="3767328"/>
            <a:ext cx="2804160" cy="5486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197352" y="3858768"/>
            <a:ext cx="2657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197352" y="4151376"/>
            <a:ext cx="2657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LLM powering LlmAgents. Enables reasoning, language understanding, and decision making. Can be swapped per agent.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19800" y="3767328"/>
            <a:ext cx="28041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019800" y="3767328"/>
            <a:ext cx="2804160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092952" y="3858768"/>
            <a:ext cx="2657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Execution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92952" y="4151376"/>
            <a:ext cx="2657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for agents (via Tools) to generate and run code dynamically for complex calculations or real-time data operations.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Patterns in Agent Frameworks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 agents for complex, scalable AI workflows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2103120" cy="1920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2103120" cy="5486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92808" y="1371600"/>
            <a:ext cx="347472" cy="27432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92808" y="13716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one after another. Output of each becomes input to the next. Use SequentialAgent.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329184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" y="246888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04088" y="2468880"/>
            <a:ext cx="329184" cy="5029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22376" y="246888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88136" y="2468880"/>
            <a:ext cx="329184" cy="5029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06424" y="246888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472184" y="2468880"/>
            <a:ext cx="329184" cy="5029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490472" y="246888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56232" y="2468880"/>
            <a:ext cx="329184" cy="50292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874520" y="246888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404872" y="1298448"/>
            <a:ext cx="2103120" cy="1920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404872" y="1298448"/>
            <a:ext cx="21031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496312" y="1389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Fan-Out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69080" y="1371600"/>
            <a:ext cx="347472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069080" y="13716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96312" y="17190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dispatched to multiple sub-agents simultaneously. Results gathered by coordinator.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96312" y="2468880"/>
            <a:ext cx="585216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514600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136392" y="2468880"/>
            <a:ext cx="585216" cy="5029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154680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776472" y="2468880"/>
            <a:ext cx="585216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94760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Merge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81144" y="1298448"/>
            <a:ext cx="2103120" cy="1920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81144" y="1298448"/>
            <a:ext cx="21031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72584" y="1389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/ Iterative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45352" y="1371600"/>
            <a:ext cx="34747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45352" y="13716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↺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72584" y="17190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repeats until a condition is met — ideal for refinement, retries, or quality checks.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72584" y="2468880"/>
            <a:ext cx="425196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90872" y="2468880"/>
            <a:ext cx="388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152644" y="2468880"/>
            <a:ext cx="425196" cy="5029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170932" y="2468880"/>
            <a:ext cx="388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632704" y="2468880"/>
            <a:ext cx="425196" cy="5029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650992" y="2468880"/>
            <a:ext cx="388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112764" y="2468880"/>
            <a:ext cx="425196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131052" y="2468880"/>
            <a:ext cx="388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757416" y="1298448"/>
            <a:ext cx="2103120" cy="1920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757416" y="1298448"/>
            <a:ext cx="210312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848856" y="1389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Coordinator / Dispatcher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21624" y="1371600"/>
            <a:ext cx="347472" cy="27432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421624" y="13716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848856" y="171907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LLM agent decides which specialist sub-agent handles each request dynamically.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48856" y="2468880"/>
            <a:ext cx="585216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867144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488936" y="2468880"/>
            <a:ext cx="585216" cy="50292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507224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129016" y="2468880"/>
            <a:ext cx="585216" cy="50292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147304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28600" y="3364992"/>
            <a:ext cx="28346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28600" y="3364992"/>
            <a:ext cx="64008" cy="15361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74904" y="345643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Task Decomposition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74904" y="38039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top-level planner breaks a complex goal into sub-tasks and delegates each to specialist agents, then synthesizes results.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0" y="3364992"/>
            <a:ext cx="28346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3200400" y="3364992"/>
            <a:ext cx="64008" cy="15361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346704" y="345643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Generator-Critic (Review Pattern)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346704" y="38039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generates a draft; a critic agent evaluates and provides feedback. Loop continues until quality threshold is met.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72200" y="3364992"/>
            <a:ext cx="28346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172200" y="3364992"/>
            <a:ext cx="64008" cy="15361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318504" y="345643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(HITL)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318504" y="38039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pauses at key decision points and requests human approval or input before continuing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Simple Agent with Google ADK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 Kit — Python Quickstart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2336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Google ADK?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framework by Google for building, running, and orchestrating AI agents. Supports Python, TypeScript, Go, and Java.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384048" cy="384048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" y="2377440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9536" y="2386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ADK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25603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google-adk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384048" cy="384048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" y="2852928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9536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API Key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" y="30358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GOOGLE_API_KEY=your_key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384048" cy="384048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8096" y="3328416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9536" y="3337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351129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LlmAgent(name='my_agent', model='gemini-2.0-flash', instruction='...')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803904"/>
            <a:ext cx="384048" cy="384048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" y="3803904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59536" y="3813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Tools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" y="39867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tools=[google_search, custom_fn, ...]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279392"/>
            <a:ext cx="384048" cy="384048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8096" y="4279392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59536" y="42885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Agent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" y="44622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 = Runner(agent=agent, ...); runner.run()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1261872"/>
            <a:ext cx="4343400" cy="3657600"/>
          </a:xfrm>
          <a:prstGeom prst="rect">
            <a:avLst/>
          </a:prstGeom>
          <a:solidFill>
            <a:srgbClr val="1A1F2B"/>
          </a:solidFill>
          <a:ln w="12700">
            <a:solidFill>
              <a:srgbClr val="1A1F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0" y="13167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ADK Agent Example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0" y="1600200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google.adk.agents import LlmAgent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572000" y="1723644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google.adk.runners import Runner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572000" y="1847088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google.adk.sessions import InMemorySessionService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572000" y="1970532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google.adk.tools import google_search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572000" y="2093976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572000" y="2217420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the AI Agent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4572000" y="2340864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root_agent = LlmAgent(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4572000" y="2464308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name='support_agent',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572000" y="2587752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model='gemini-2.0-flash',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4572000" y="2711196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description='Customer Support AI',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572000" y="2834640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instruction='You are a helpful support agent...',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4572000" y="2958084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tools=[google_search],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4572000" y="3081528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4572000" y="3204972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4572000" y="3328416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session &amp; runner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4572000" y="3451860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session_service = InMemorySessionService()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4572000" y="3575304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 = Runner(agent=root_agent,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4572000" y="3698748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session_service=session_service)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4572000" y="3822192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4572000" y="3945636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agent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4572000" y="4069080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runner.run(user_id='u1', session_id='s1',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4572000" y="4192524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new_message='Hello!')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777240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AWS Bedrock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Foundation Models for Generative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651760" cy="86868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98448"/>
            <a:ext cx="2651760" cy="86868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91840" y="13167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1-Click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9184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298448"/>
            <a:ext cx="265176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72200" y="13167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7220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Mgmt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04288"/>
            <a:ext cx="850392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is a fully managed service that makes high-performing foundation models (FMs) from leading AI companies available via a single API — no infrastructure management required.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3035808"/>
            <a:ext cx="64008" cy="86868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48056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Providers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" y="33284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models from Anthropic (Claude), Meta (Llama), Mistral, Amazon Titan, Cohere, Stability AI and more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03580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3035808"/>
            <a:ext cx="64008" cy="86868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28416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28416" y="33284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data via RAG to ground model responses in your documents and enterprise content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303580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80760" y="3035808"/>
            <a:ext cx="64008" cy="86868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08776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Bedrock Agents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08776" y="33284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autonomous agents that can plan and execute multi-step tasks using your APIs and data sources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9959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0040" y="3995928"/>
            <a:ext cx="64008" cy="86868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48056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" y="42885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safeguards to block harmful content, apply filters, and ensure responsible AI behavior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39959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00400" y="3995928"/>
            <a:ext cx="64008" cy="86868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328416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28416" y="42885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models with your proprietary data to improve accuracy and relevance for your use case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0760" y="3995928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080760" y="3995928"/>
            <a:ext cx="64008" cy="86868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08776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Serverless &amp; Secure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08776" y="42885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no GPU provisioning. Data never leaves your VPC — compliant with SOC, HIPAA, GDPR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AWS Lambda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— Run Code Without Managing Servers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14800" cy="36118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AWS Lambda?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is an event-driven, serverless compute service. It runs your code in response to events and automatically manages the compute resources — you only pay for the compute time consumed.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3520440" cy="32918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Trigger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84832" y="3054096"/>
            <a:ext cx="73152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3520440" cy="32918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invoked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84832" y="3456432"/>
            <a:ext cx="73152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3520440" cy="32918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84832" y="3858768"/>
            <a:ext cx="73152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3520440" cy="32918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84832" y="4261104"/>
            <a:ext cx="73152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4334256"/>
            <a:ext cx="352044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43342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298448"/>
            <a:ext cx="22219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0" y="1298448"/>
            <a:ext cx="2221992" cy="5486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63440" y="1408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Triggers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6642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S3, DynamoDB, SNS, SQS, EventBridge, Bedrock and 200+ AWS services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1298448"/>
            <a:ext cx="22219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949440" y="1298448"/>
            <a:ext cx="2221992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040880" y="1408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Supported Runtimes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16642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Node.js, Java, Go, Ruby, .NET — or any custom runtime via container images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22219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72000" y="2505456"/>
            <a:ext cx="2221992" cy="5486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6344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Scaling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28712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0 to thousands of concurrent executions automatically with zero configuration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49440" y="2505456"/>
            <a:ext cx="22219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949440" y="2505456"/>
            <a:ext cx="2221992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04088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Pay-per-use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28712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by number of requests and duration (ms precision). First 1M requests free per month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3712464"/>
            <a:ext cx="22219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72000" y="3712464"/>
            <a:ext cx="2221992" cy="5486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63440" y="3822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Timeout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40782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can run up to 15 minutes. Ideal for AI agent tasks, data processing, and webhooks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9440" y="3712464"/>
            <a:ext cx="222199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949440" y="3712464"/>
            <a:ext cx="2221992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040880" y="3822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VPC &amp; Security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40880" y="40782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inside your VPC, use IAM roles, Secrets Manager, environment variables for secure configs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77240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AWS API Gateway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Publish, and Secure APIs at Any 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6217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 is a fully managed service for creating RESTful, HTTP, and WebSocket APIs. It acts as the 'front door' to backend services — handling auth, throttling, caching, and monitoring.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1371600" cy="50292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/ Browser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91640" y="2258568"/>
            <a:ext cx="548640" cy="9144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194560" y="2203704"/>
            <a:ext cx="91440" cy="20116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40280" y="2057400"/>
            <a:ext cx="1645920" cy="50292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40280" y="2057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86200" y="2258568"/>
            <a:ext cx="548640" cy="9144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89120" y="2203704"/>
            <a:ext cx="91440" cy="20116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480560" y="2057400"/>
            <a:ext cx="173736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8056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 / Backend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258568"/>
            <a:ext cx="548640" cy="9144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20840" y="2203704"/>
            <a:ext cx="91440" cy="20116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66560" y="2057400"/>
            <a:ext cx="173736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6656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Services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724912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" y="2724912"/>
            <a:ext cx="64008" cy="82296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017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REST APIs with API keys, usage plans, throttling, caching, and Swagger/OpenAPI support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724912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0" y="2724912"/>
            <a:ext cx="64008" cy="82296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37560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017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Low-latency, cost-effective APIs for simple Lambda &amp; HTTP backend integrations. Up to 70% cheaper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724912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760" y="2724912"/>
            <a:ext cx="64008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17920" y="27614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 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017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Bi-directional, real-time communication APIs for chat, streaming AI responses, and live dashboards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657600"/>
            <a:ext cx="8503920" cy="129844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995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Authorization (IAM, Cognito, Lambda Authorizer)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270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Throttling (protect backend)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544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Transformation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3995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SSL/TLS, Custom Domains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4270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via CloudWatch &amp; X-Ray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4544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to reduce backend load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Deploying Bedrock Agents via Lambda &amp; API Gateway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serverless architecture for production AI agents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" y="1719072"/>
            <a:ext cx="1371600" cy="777240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" y="17190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/ Client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(Web / Mobile / CLI)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2071116"/>
            <a:ext cx="502920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01952" y="1979676"/>
            <a:ext cx="73152" cy="24688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20240" y="1719072"/>
            <a:ext cx="1463040" cy="77724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65960" y="171907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(REST/HTTP)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071116"/>
            <a:ext cx="502920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822192" y="1979676"/>
            <a:ext cx="73152" cy="24688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94760" y="1719072"/>
            <a:ext cx="12801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0" y="17190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Lambda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2071116"/>
            <a:ext cx="502920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513832" y="1979676"/>
            <a:ext cx="73152" cy="24688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623560" y="1719072"/>
            <a:ext cx="164592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0" y="171907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Bedrock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(Claude / Titan)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2071116"/>
            <a:ext cx="502920" cy="7315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08392" y="1979676"/>
            <a:ext cx="73152" cy="246888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80960" y="1719072"/>
            <a:ext cx="128016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26680" y="17190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Action Groups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" y="2651760"/>
            <a:ext cx="2057400" cy="3657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4592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&amp; Policies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59152" y="2651760"/>
            <a:ext cx="2057400" cy="3657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32304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26864" y="2651760"/>
            <a:ext cx="2057400" cy="3657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00016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/ API Key Auth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94576" y="2651760"/>
            <a:ext cx="2057400" cy="36576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967728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DynamoDB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" y="3063240"/>
            <a:ext cx="4343400" cy="804672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1440" y="3063240"/>
            <a:ext cx="347472" cy="804672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440" y="3063240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2920" y="3118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Bedrock Agent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37413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AWS Console, configure agent with Claude model, set instructions, attach action groups (Lambda functions) and connect Knowledge Base (S3 + embeddings).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3063240"/>
            <a:ext cx="4343400" cy="804672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617720" y="3063240"/>
            <a:ext cx="347472" cy="804672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17720" y="3063240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029200" y="3118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Lambda Function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337413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handler calls bedrock-agent-runtime.invoke_agent(), passing agentId, sessionId, and user input. Returns streaming or batch response.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440" y="3977640"/>
            <a:ext cx="4343400" cy="804672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1440" y="3977640"/>
            <a:ext cx="347472" cy="804672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1440" y="3977640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02920" y="4032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API Gateway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428853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REST/HTTP API, create POST /chat resource, integrate with Lambda using Lambda Proxy. Enable CORS, set API Key or Cognito authorizer.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17720" y="3977640"/>
            <a:ext cx="4343400" cy="804672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617720" y="3977640"/>
            <a:ext cx="347472" cy="804672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17720" y="3977640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029200" y="4032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&amp; Monitor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0" y="4288536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IAM execution role, enable CloudWatch Logs, set throttling limits, configure X-Ray tracing for end-to-end observability.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8952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to Learn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your AI Agents journey with these resources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691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4008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Strands Agents SDK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open-source SDK from AWS for building agentic AI applications. Provides a model-driven approach where the LLM drives the execution loop, with built-in support for tools, memory, multi-agent orchestration, and native integration with Amazon Bedrock models.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029200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9808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9C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docs.aws.amazon.com/prescriptive-guidance/latest/agentic-ai-frameworks/strands-agents.html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97880" y="1536192"/>
            <a:ext cx="1325880" cy="71323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897880" y="1536192"/>
            <a:ext cx="132588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71032" y="16276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Model-Driven Loop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71032" y="188366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orchestrates tool use natively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0" y="1536192"/>
            <a:ext cx="1325880" cy="71323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0" y="1536192"/>
            <a:ext cx="1325880" cy="5486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88352" y="16276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Native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88352" y="188366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Bedrock &amp; Lambda integration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97880" y="2359152"/>
            <a:ext cx="1325880" cy="71323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897880" y="2359152"/>
            <a:ext cx="13258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71032" y="2450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Ready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71032" y="270662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agent-to-agent delegation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2359152"/>
            <a:ext cx="1325880" cy="71323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15200" y="2359152"/>
            <a:ext cx="13258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88352" y="2450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88352" y="270662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— extend &amp; contribute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218688"/>
            <a:ext cx="1920240" cy="6858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7200" y="3218688"/>
            <a:ext cx="1920240" cy="54864"/>
          </a:xfrm>
          <a:prstGeom prst="rect">
            <a:avLst/>
          </a:prstGeom>
          <a:solidFill>
            <a:srgbClr val="1E6EBF"/>
          </a:solidFill>
          <a:ln w="12700">
            <a:solidFill>
              <a:srgbClr val="1E6E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ADK Docs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9C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google.github.io/adk-docs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42032" y="3218688"/>
            <a:ext cx="1920240" cy="6858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542032" y="3218688"/>
            <a:ext cx="1920240" cy="54864"/>
          </a:xfrm>
          <a:prstGeom prst="rect">
            <a:avLst/>
          </a:prstGeom>
          <a:solidFill>
            <a:srgbClr val="E8843A"/>
          </a:solidFill>
          <a:ln w="12700">
            <a:solidFill>
              <a:srgbClr val="E884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633472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Bedrock Docs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33472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9C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docs.aws.amazon.com/bedrock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26864" y="3218688"/>
            <a:ext cx="1920240" cy="6858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26864" y="3218688"/>
            <a:ext cx="19202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18304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Lambda Docs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18304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9C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docs.aws.amazon.com/lambda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11696" y="3218688"/>
            <a:ext cx="1920240" cy="68580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711696" y="3218688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03136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 Docs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03136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9C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docs.aws.amazon.com/apigateway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4041648"/>
            <a:ext cx="8229600" cy="77724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0080" y="40782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Smarter. Deploy Faster. Scale with Confidence.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+ AWS Cloud = Production-Ready Intelligent Systems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4892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AB39EC05-D7C8-8AE3-A7D0-4C7387D9824C}"/>
              </a:ext>
            </a:extLst>
          </p:cNvPr>
          <p:cNvSpPr txBox="1"/>
          <p:nvPr/>
        </p:nvSpPr>
        <p:spPr>
          <a:xfrm>
            <a:off x="389695" y="1976181"/>
            <a:ext cx="4395155" cy="595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750" b="1" dirty="0">
                <a:latin typeface="Satoshi" pitchFamily="2" charset="77"/>
              </a:rPr>
              <a:t>Thank You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BBC2B8BE-2818-9803-2977-955666C0C4CD}"/>
              </a:ext>
            </a:extLst>
          </p:cNvPr>
          <p:cNvSpPr txBox="1"/>
          <p:nvPr/>
        </p:nvSpPr>
        <p:spPr>
          <a:xfrm>
            <a:off x="389695" y="2602075"/>
            <a:ext cx="3565298" cy="318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50"/>
              </a:spcBef>
            </a:pPr>
            <a:endParaRPr sz="1500" b="1" dirty="0">
              <a:solidFill>
                <a:schemeClr val="tx2"/>
              </a:solidFill>
              <a:latin typeface="Satoshi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B4DCEC-03B9-1856-E79D-EFC5A51BC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595" y="410455"/>
            <a:ext cx="1527168" cy="3457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29F631-43C4-CD7D-F5BE-1DB2CDAC746F}"/>
              </a:ext>
            </a:extLst>
          </p:cNvPr>
          <p:cNvSpPr txBox="1"/>
          <p:nvPr/>
        </p:nvSpPr>
        <p:spPr>
          <a:xfrm>
            <a:off x="432559" y="4403254"/>
            <a:ext cx="2220701" cy="184666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r>
              <a:rPr lang="en-US" sz="900" dirty="0">
                <a:solidFill>
                  <a:srgbClr val="7F7F7F"/>
                </a:solidFill>
                <a:latin typeface="Satoshi Light" pitchFamily="2" charset="77"/>
              </a:rPr>
              <a:t>© 2025 </a:t>
            </a:r>
            <a:r>
              <a:rPr lang="en-US" sz="900" dirty="0" err="1">
                <a:solidFill>
                  <a:srgbClr val="7F7F7F"/>
                </a:solidFill>
                <a:latin typeface="Satoshi Light" pitchFamily="2" charset="77"/>
              </a:rPr>
              <a:t>intuitive.ai</a:t>
            </a:r>
            <a:endParaRPr lang="en-US" sz="900" dirty="0">
              <a:solidFill>
                <a:srgbClr val="7F7F7F"/>
              </a:solidFill>
              <a:latin typeface="Satoshi Light" pitchFamily="2" charset="77"/>
            </a:endParaRPr>
          </a:p>
        </p:txBody>
      </p:sp>
      <p:sp>
        <p:nvSpPr>
          <p:cNvPr id="9" name="Google Shape;61;p14">
            <a:extLst>
              <a:ext uri="{FF2B5EF4-FFF2-40B4-BE49-F238E27FC236}">
                <a16:creationId xmlns:a16="http://schemas.microsoft.com/office/drawing/2014/main" id="{58CD00AD-A78E-A221-1F7E-E4390ABDF4E0}"/>
              </a:ext>
            </a:extLst>
          </p:cNvPr>
          <p:cNvSpPr txBox="1"/>
          <p:nvPr/>
        </p:nvSpPr>
        <p:spPr>
          <a:xfrm>
            <a:off x="4800686" y="4403254"/>
            <a:ext cx="906018" cy="30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150"/>
              </a:spcBef>
              <a:spcAft>
                <a:spcPts val="300"/>
              </a:spcAft>
              <a:buClr>
                <a:schemeClr val="accent6"/>
              </a:buClr>
            </a:pP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latin typeface="Satoshi" pitchFamily="2" charset="77"/>
              </a:rPr>
              <a:t>sales@intuitive.ai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Satoshi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B6F7A8-B85E-4FF0-E82F-34AD41C5A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995" y="4429621"/>
            <a:ext cx="203201" cy="137160"/>
          </a:xfrm>
          <a:prstGeom prst="rect">
            <a:avLst/>
          </a:prstGeom>
        </p:spPr>
      </p:pic>
      <p:sp>
        <p:nvSpPr>
          <p:cNvPr id="11" name="Google Shape;61;p14">
            <a:extLst>
              <a:ext uri="{FF2B5EF4-FFF2-40B4-BE49-F238E27FC236}">
                <a16:creationId xmlns:a16="http://schemas.microsoft.com/office/drawing/2014/main" id="{D813CCBF-DD20-1550-57BF-258380246BA6}"/>
              </a:ext>
            </a:extLst>
          </p:cNvPr>
          <p:cNvSpPr txBox="1"/>
          <p:nvPr/>
        </p:nvSpPr>
        <p:spPr>
          <a:xfrm>
            <a:off x="7831344" y="4403254"/>
            <a:ext cx="863834" cy="30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150"/>
              </a:spcBef>
              <a:spcAft>
                <a:spcPts val="300"/>
              </a:spcAft>
              <a:buClr>
                <a:schemeClr val="accent6"/>
              </a:buClr>
            </a:pPr>
            <a:r>
              <a:rPr lang="en-US" sz="900" dirty="0" err="1">
                <a:solidFill>
                  <a:schemeClr val="bg1">
                    <a:lumMod val="50000"/>
                  </a:schemeClr>
                </a:solidFill>
                <a:latin typeface="Satoshi" pitchFamily="2" charset="77"/>
              </a:rPr>
              <a:t>www.intuitive.ai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Satoshi" pitchFamily="2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5541D7-E5E9-A3E9-76BF-03A13ACFA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957" y="4399606"/>
            <a:ext cx="198882" cy="19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63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1861</Words>
  <Application>Microsoft Office PowerPoint</Application>
  <PresentationFormat>On-screen Show (16:9)</PresentationFormat>
  <Paragraphs>295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Consolas</vt:lpstr>
      <vt:lpstr>Satoshi</vt:lpstr>
      <vt:lpstr>Satoshi Light</vt:lpstr>
      <vt:lpstr>Trebuchet MS</vt:lpstr>
      <vt:lpstr>Office Theme</vt:lpstr>
      <vt:lpstr>Introduction to AI Agents &amp; How to Deploy AWS Bedrock Agents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&amp; AWS Cloud Deployment</dc:title>
  <dc:subject>PptxGenJS Presentation</dc:subject>
  <dc:creator>PptxGenJS</dc:creator>
  <cp:lastModifiedBy>Prem Gandhi (Data + AI)</cp:lastModifiedBy>
  <cp:revision>3</cp:revision>
  <dcterms:created xsi:type="dcterms:W3CDTF">2026-03-21T16:55:33Z</dcterms:created>
  <dcterms:modified xsi:type="dcterms:W3CDTF">2026-03-21T18:50:21Z</dcterms:modified>
</cp:coreProperties>
</file>